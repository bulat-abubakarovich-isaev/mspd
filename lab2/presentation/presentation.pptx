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6"/>
  </p:notesMasterIdLst>
  <p:handoutMasterIdLst>
    <p:handoutMasterId r:id="rId37"/>
  </p:handoutMasterIdLst>
  <p:sldIdLst>
    <p:sldId id="276" r:id="rId2"/>
    <p:sldId id="291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7" r:id="rId27"/>
    <p:sldId id="318" r:id="rId28"/>
    <p:sldId id="319" r:id="rId29"/>
    <p:sldId id="320" r:id="rId30"/>
    <p:sldId id="321" r:id="rId31"/>
    <p:sldId id="322" r:id="rId32"/>
    <p:sldId id="323" r:id="rId33"/>
    <p:sldId id="292" r:id="rId34"/>
    <p:sldId id="293" r:id="rId35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онструктор, трансформация, добавление заметок, совместная работа, помощник" id="{B9B51309-D148-4332-87C2-07BE32FBCA3B}">
          <p14:sldIdLst>
            <p14:sldId id="276"/>
            <p14:sldId id="291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Автор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41" autoAdjust="0"/>
  </p:normalViewPr>
  <p:slideViewPr>
    <p:cSldViewPr snapToGrid="0">
      <p:cViewPr varScale="1">
        <p:scale>
          <a:sx n="60" d="100"/>
          <a:sy n="60" d="100"/>
        </p:scale>
        <p:origin x="96" y="153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9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EF2CABD-ADFB-4662-86FE-964DAD288E0E}" type="datetime1">
              <a:rPr lang="ru-RU" smtClean="0"/>
              <a:t>21.12.2025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812D4-DBF0-450F-B19D-420CCD76CB60}" type="datetime1">
              <a:rPr lang="ru-RU" smtClean="0"/>
              <a:pPr/>
              <a:t>21.12.2025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822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5277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33555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451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9258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8330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83680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88542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3725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05589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9578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7213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96251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1086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41567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20404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16617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94303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37950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80745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58369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70807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4599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2608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2329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77665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6022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43839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3804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9936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08838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09827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2615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528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cxnSp>
        <p:nvCxnSpPr>
          <p:cNvPr id="12" name="Прямая соединительная линия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  <p:sp>
        <p:nvSpPr>
          <p:cNvPr id="6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4BFA7FF-3CFD-4CAD-BB9E-67BC1F4C890D}" type="datetime1">
              <a:rPr lang="ru-RU" noProof="0" smtClean="0"/>
              <a:t>21.12.2025</a:t>
            </a:fld>
            <a:endParaRPr lang="ru-RU" noProof="0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10" name="Прямоугольник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0E309820-F966-41D6-9A9E-F094402396DD}" type="datetime1">
              <a:rPr lang="ru-RU" noProof="0" smtClean="0"/>
              <a:t>21.12.2025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8" name="Прямая соединительная линия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056065-9236-44D4-9A4C-3AEED7559FF9}"/>
              </a:ext>
            </a:extLst>
          </p:cNvPr>
          <p:cNvSpPr txBox="1"/>
          <p:nvPr/>
        </p:nvSpPr>
        <p:spPr>
          <a:xfrm>
            <a:off x="545430" y="527067"/>
            <a:ext cx="7443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Лабораторная работа №</a:t>
            </a:r>
            <a:r>
              <a:rPr lang="en-US"/>
              <a:t>2</a:t>
            </a:r>
            <a:r>
              <a:rPr lang="ru-RU"/>
              <a:t> </a:t>
            </a:r>
            <a:br>
              <a:rPr lang="ru-RU" dirty="0"/>
            </a:br>
            <a:r>
              <a:rPr lang="ru-RU" dirty="0"/>
              <a:t>Моделирование сетей передачи данных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DF57C9-A9C7-4DF7-9246-E83B5921883C}"/>
              </a:ext>
            </a:extLst>
          </p:cNvPr>
          <p:cNvSpPr txBox="1"/>
          <p:nvPr/>
        </p:nvSpPr>
        <p:spPr>
          <a:xfrm>
            <a:off x="545430" y="2933382"/>
            <a:ext cx="98017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Исаев Б. А.</a:t>
            </a:r>
            <a:endParaRPr lang="en-US" dirty="0"/>
          </a:p>
          <a:p>
            <a:endParaRPr lang="en-US" dirty="0"/>
          </a:p>
          <a:p>
            <a:r>
              <a:rPr lang="ru-RU" dirty="0"/>
              <a:t>202</a:t>
            </a:r>
            <a:r>
              <a:rPr lang="en-US" dirty="0"/>
              <a:t>5</a:t>
            </a:r>
            <a:r>
              <a:rPr lang="ru-RU" dirty="0"/>
              <a:t> </a:t>
            </a:r>
            <a:endParaRPr lang="en-US" dirty="0"/>
          </a:p>
          <a:p>
            <a:endParaRPr lang="en-US" dirty="0"/>
          </a:p>
          <a:p>
            <a:r>
              <a:rPr lang="ru-RU" dirty="0"/>
              <a:t>Российский университет дружбы народов имени Патриса Лумумбы, Москва, Россия </a:t>
            </a:r>
          </a:p>
        </p:txBody>
      </p:sp>
    </p:spTree>
    <p:extLst>
      <p:ext uri="{BB962C8B-B14F-4D97-AF65-F5344CB8AC3E}">
        <p14:creationId xmlns:p14="http://schemas.microsoft.com/office/powerpoint/2010/main" val="64276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1: Обновление репозиториев программного обеспечения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Установка необходимого программного обеспечения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B3238D8-55D1-49CF-9BAA-C638F967F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699" y="1231705"/>
            <a:ext cx="8454601" cy="495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6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2: Установка </a:t>
            </a:r>
            <a:r>
              <a:rPr lang="en-US"/>
              <a:t>iperf3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Установка необходимого программного обеспечения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68E10DB-57B0-4B41-A128-DAC0FFA64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126" y="2685946"/>
            <a:ext cx="8049748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082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3: Установка необходимого дополнительного программного обеспечения на виртуальную машину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Установка необходимого программного обеспечения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3A5E954-CE50-47ED-BFE0-60A7F0E33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651" y="2376340"/>
            <a:ext cx="9478698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3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4: Развертывание iperf3_plotter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Установка необходимого программного обеспечения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1BDE304-E72A-48D2-A014-2905DDC6A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704" y="2381104"/>
            <a:ext cx="9440592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942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5: Исправление прав запуска X-соединения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4E44F03-3682-49E0-A485-B63EB2D6C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56" y="2590683"/>
            <a:ext cx="9583487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661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6: Создание простейшей топологии, состоящей из двух хостов и коммутатора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7DEE4A-E928-416F-908F-E5C23BAFD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2357" y="1357291"/>
            <a:ext cx="7347285" cy="4745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528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7: Просмотр параметров топологии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EEC6814-BE79-437B-AC36-64A969BBC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019" y="1952419"/>
            <a:ext cx="9573961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960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8: Запуск сервера iperf3 в терминале h2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6E7C3CA-D547-4BE9-BEF8-4413C999E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2123917"/>
            <a:ext cx="10975383" cy="261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9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9: Запуск клиента iperf3 в терминале хоста h1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95F5DDA-F0FC-43E7-86B7-6B6FDE923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236" y="1285206"/>
            <a:ext cx="7959527" cy="481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52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10: Остановка сервера iPerf3 в терминале хоста h2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58D96A2-3156-449D-9256-38E72B0E2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145" y="1291539"/>
            <a:ext cx="7821710" cy="495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621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129152" y="6216133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11: Запуск сервера iperf3 на хосте h2, запуск клиента iperf3 на хосте h1, остановка серверного процесса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6A097E3-515A-4C85-B60B-60CCC9253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699" y="1308211"/>
            <a:ext cx="5818655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768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12: Запуск сервера iperf3 в терминале h2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0BD8B00-609D-4018-8BC7-7FED3EBD4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6889" y="2443025"/>
            <a:ext cx="7678222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149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dirty="0"/>
              <a:t>Рис. 13: Запуск клиента iperf3 в терминале h1 с параметром -t (5 секунд</a:t>
            </a:r>
            <a:r>
              <a:rPr lang="en-US" dirty="0"/>
              <a:t>)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C8B4659-9497-4B49-A80B-E56F92044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671" y="1315072"/>
            <a:ext cx="7688351" cy="478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276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14: Запуск сервера iperf3 в терминале h2 с 2-секундным интервалом времени отсчёта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059E432-89A7-476A-AFCD-1D3A1DC0C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508" y="2835195"/>
            <a:ext cx="8180984" cy="162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123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15: Запуск клиента iperf3 в терминале h1 с 2-секундным интервалом времени отсчёта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0C8318D-28C2-439D-9BD8-F8EBC2144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6889" y="1728550"/>
            <a:ext cx="7678222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550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16: Запуск сервера iperf3 в терминале h2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70B6E9B-1CE7-471A-9AD9-6F16DD2E0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066" y="2788477"/>
            <a:ext cx="8749868" cy="157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331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17: Запуск клиента iperf3 в терминале h1 с объёмом данных 16 Гбайт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6838D14-849F-4803-B503-7EF076D99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0481" y="1300319"/>
            <a:ext cx="6312731" cy="488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320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18: Запуск сервера iperf3 в терминале h2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3FED6BB-414F-4618-B2CE-B307EF20E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260" y="2874900"/>
            <a:ext cx="8261480" cy="161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46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19: Запуск клиента iperf3 в терминале h1 с протоколом UDP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5620202-3563-4587-A201-A51A211BB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705" y="1315655"/>
            <a:ext cx="7630590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600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20: Запуск сервера iperf3 в терминале h2 с портом прослушивания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F4D70B5-9B68-437E-9DD0-95F621B34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178" y="2557341"/>
            <a:ext cx="7649643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848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21: Запуск клиента iperf3 в терминале h1 с портом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29B2C96-F3BD-43DB-9047-59CBBAA59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178" y="1310892"/>
            <a:ext cx="7649643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792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22: Запуск сервера iperf3 в терминале h2 с параметром -1 (чтобы приянть только 1 клиента)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FE250A6-741C-4F6D-95B4-480CC8528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381" y="2714525"/>
            <a:ext cx="9291238" cy="172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757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23: Запуск клиента iperf3 в терминале h1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3AEA631-D81B-4C4E-B516-521AD460A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652" y="1501418"/>
            <a:ext cx="7668695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967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24: Создание каталога для работы над проектом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2B1D782-EBD0-4D8E-B455-E243AD97A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167" y="2600704"/>
            <a:ext cx="8637666" cy="240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77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25: Запуск сервера iperf3 в терминале h2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C5CAC84-C37D-43C1-B152-75FE0DC33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956" y="2743104"/>
            <a:ext cx="9226087" cy="165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60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26: Запуск клиента iperf3 в терминале h1 с параметром -J (отображение вывода в формате JSON)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039089F-B9C2-44C0-9989-73CB0B332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367" y="1281564"/>
            <a:ext cx="4799265" cy="474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634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27: Экспортирование вывода результатов теста в файл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79C0274-E87D-4182-8673-0CBF69A24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608" y="3134470"/>
            <a:ext cx="9720783" cy="69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820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28: Проверка создания файла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0FF970C-BDF8-402A-AF64-409404327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530" y="2387393"/>
            <a:ext cx="8396939" cy="232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760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29: Завершение работы mininet в интерактивном режиме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B3E0769-3DD4-4161-A24E-E922AAC18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463" y="2481624"/>
            <a:ext cx="7361074" cy="233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317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30: Корректирование прав доступа к файлу JSON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E148F56-EB33-4BCE-BD6E-0C664D8F7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646" y="2230435"/>
            <a:ext cx="8004707" cy="311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177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31: Генерация выходных данных и последующая проверка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0FE1BE8-DDFA-4B64-9F75-040960CB0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679" y="1302819"/>
            <a:ext cx="7486336" cy="470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524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0" y="2879375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• В ходе выполнения лабораторной работы познакомились с инструментом для измерения пропускной способности сети в режиме реального времени — iPerf3, а также получили навыки проведения интерактивного эксперимента по измерению пропускной способности моделируемой сети в среде </a:t>
            </a:r>
            <a:r>
              <a:rPr lang="ru-RU" dirty="0" err="1"/>
              <a:t>Mininet</a:t>
            </a:r>
            <a:r>
              <a:rPr lang="ru-RU" dirty="0"/>
              <a:t>.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Вывод</a:t>
            </a:r>
          </a:p>
        </p:txBody>
      </p:sp>
    </p:spTree>
    <p:extLst>
      <p:ext uri="{BB962C8B-B14F-4D97-AF65-F5344CB8AC3E}">
        <p14:creationId xmlns:p14="http://schemas.microsoft.com/office/powerpoint/2010/main" val="74012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0" y="3429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FR" dirty="0"/>
              <a:t>[1] Mininet: https://mininet.org/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Список литературы. Библиография </a:t>
            </a:r>
          </a:p>
        </p:txBody>
      </p:sp>
    </p:spTree>
    <p:extLst>
      <p:ext uri="{BB962C8B-B14F-4D97-AF65-F5344CB8AC3E}">
        <p14:creationId xmlns:p14="http://schemas.microsoft.com/office/powerpoint/2010/main" val="270344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Пользовательски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30_TF10001108_Win3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{3BF0432E-C854-41CE-93DC-9496EBB535A6}TF2989475c-5427-4edb-9ec1-00f4ce72165b8cae7013_win32-72884f2072f2</Template>
  <TotalTime>33</TotalTime>
  <Words>551</Words>
  <Application>Microsoft Office PowerPoint</Application>
  <PresentationFormat>Широкоэкранный</PresentationFormat>
  <Paragraphs>106</Paragraphs>
  <Slides>34</Slides>
  <Notes>34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40" baseType="lpstr">
      <vt:lpstr>Arial</vt:lpstr>
      <vt:lpstr>Calibri</vt:lpstr>
      <vt:lpstr>Cambria</vt:lpstr>
      <vt:lpstr>Segoe UI</vt:lpstr>
      <vt:lpstr>Segoe UI Light</vt:lpstr>
      <vt:lpstr>Пользовательские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Булат Исаев</dc:creator>
  <cp:keywords/>
  <cp:lastModifiedBy>Булат Исаев</cp:lastModifiedBy>
  <cp:revision>13</cp:revision>
  <dcterms:created xsi:type="dcterms:W3CDTF">2025-12-20T16:59:38Z</dcterms:created>
  <dcterms:modified xsi:type="dcterms:W3CDTF">2025-12-21T13:19:47Z</dcterms:modified>
  <cp:version/>
</cp:coreProperties>
</file>